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25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0" d="100"/>
          <a:sy n="160" d="100"/>
        </p:scale>
        <p:origin x="29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96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9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423160" cy="2423160"/>
          </a:xfrm>
          <a:prstGeom prst="ellipse">
            <a:avLst/>
          </a:prstGeom>
          <a:solidFill>
            <a:srgbClr val="071934">
              <a:alpha val="0"/>
            </a:srgbClr>
          </a:solidFill>
          <a:ln w="20320">
            <a:solidFill>
              <a:srgbClr val="174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1554480"/>
            <a:ext cx="1965960" cy="1965960"/>
          </a:xfrm>
          <a:prstGeom prst="ellipse">
            <a:avLst/>
          </a:prstGeom>
          <a:solidFill>
            <a:srgbClr val="071934">
              <a:alpha val="0"/>
            </a:srgbClr>
          </a:solidFill>
          <a:ln w="2032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2514600"/>
            <a:ext cx="1508760" cy="1508760"/>
          </a:xfrm>
          <a:prstGeom prst="ellipse">
            <a:avLst/>
          </a:prstGeom>
          <a:solidFill>
            <a:srgbClr val="071934">
              <a:alpha val="0"/>
            </a:srgbClr>
          </a:solidFill>
          <a:ln w="17780">
            <a:solidFill>
              <a:srgbClr val="42A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13232" y="502920"/>
            <a:ext cx="2514600" cy="384048"/>
          </a:xfrm>
          <a:prstGeom prst="roundRect">
            <a:avLst/>
          </a:prstGeom>
          <a:solidFill>
            <a:srgbClr val="1E88E5"/>
          </a:solidFill>
          <a:ln w="1016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50292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기준 처리 구조 전환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804672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sz="3800" b="1">
                <a:solidFill>
                  <a:srgbClr val="FFFFFF"/>
                </a:solidFill>
                <a:latin typeface="Malgun Gothic"/>
              </a:rPr>
              <a:t>배틀서버 작업보고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68096" y="3822191"/>
            <a:ext cx="66294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sz="1800" b="0">
                <a:solidFill>
                  <a:srgbClr val="D9E1EF"/>
                </a:solidFill>
                <a:latin typeface="Malgun Gothic"/>
              </a:rPr>
              <a:t>클라이언트 중심 처리 흐름을</a:t>
            </a:r>
            <a:endParaRPr lang="en-US" sz="1700" dirty="0"/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D9E1EF"/>
                </a:solidFill>
                <a:latin typeface="Malgun Gothic"/>
              </a:rPr>
              <a:t>서버 기준 구조로 전환하기 위한 기반 정리</a:t>
            </a:r>
          </a:p>
        </p:txBody>
      </p:sp>
      <p:sp>
        <p:nvSpPr>
          <p:cNvPr id="9" name="Shape 7"/>
          <p:cNvSpPr/>
          <p:nvPr/>
        </p:nvSpPr>
        <p:spPr>
          <a:xfrm>
            <a:off x="786384" y="4800600"/>
            <a:ext cx="4937760" cy="3200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86384" y="5120640"/>
            <a:ext cx="4846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작업 4건 · 향후 작업 4건 · 구조 개선 방향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A9B9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384048"/>
            <a:ext cx="1298448" cy="310896"/>
          </a:xfrm>
          <a:prstGeom prst="roundRect">
            <a:avLst/>
          </a:prstGeom>
          <a:solidFill>
            <a:srgbClr val="E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87E5"/>
                </a:solidFill>
                <a:latin typeface="Malgun Gothic"/>
              </a:rPr>
              <a:t>전체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04672"/>
            <a:ext cx="10424160" cy="32918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2400" b="1">
                <a:solidFill>
                  <a:srgbClr val="071934"/>
                </a:solidFill>
                <a:latin typeface="Malgun Gothic"/>
              </a:rPr>
              <a:t>클라베이스 로직의 서버 이관을 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424160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550" b="0">
                <a:solidFill>
                  <a:srgbClr val="526074"/>
                </a:solidFill>
                <a:latin typeface="Malgun Gothic"/>
              </a:rPr>
              <a:t>서버 처리 구조와 주요 클라이언트 로직을 함께 정리하고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10881360" cy="13716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2039112"/>
            <a:ext cx="3913632" cy="3246120"/>
          </a:xfrm>
          <a:prstGeom prst="roundRect">
            <a:avLst/>
          </a:prstGeom>
          <a:solidFill>
            <a:srgbClr val="08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039112"/>
            <a:ext cx="91440" cy="3246120"/>
          </a:xfrm>
          <a:prstGeom prst="rect">
            <a:avLst/>
          </a:prstGeom>
          <a:solidFill>
            <a:srgbClr val="1F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295144"/>
            <a:ext cx="3319272" cy="30175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Malgun Gothic"/>
              </a:rPr>
              <a:t>구조 개선 필요성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60904"/>
            <a:ext cx="3319272" cy="43891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150" b="0">
                <a:solidFill>
                  <a:srgbClr val="C4D3E6"/>
                </a:solidFill>
                <a:latin typeface="Malgun Gothic"/>
              </a:rPr>
              <a:t>기술부채를 그대로 서버로 옮기지 않기 위한
선행 구조 정리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273552"/>
            <a:ext cx="658368" cy="237744"/>
          </a:xfrm>
          <a:prstGeom prst="roundRect">
            <a:avLst/>
          </a:prstGeom>
          <a:solidFill>
            <a:srgbClr val="12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314700"/>
            <a:ext cx="658368" cy="17373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/>
            <a:r>
              <a:rPr sz="900" b="1">
                <a:solidFill>
                  <a:srgbClr val="D4E8FF"/>
                </a:solidFill>
                <a:latin typeface="Malgun Gothic"/>
              </a:rPr>
              <a:t>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93592"/>
            <a:ext cx="3319272" cy="6217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240" b="1">
                <a:solidFill>
                  <a:srgbClr val="FFFFFF"/>
                </a:solidFill>
                <a:latin typeface="Malgun Gothic"/>
              </a:rPr>
              <a:t>하드코딩 조건 처리 · 매직넘버
중복 구현 · 타입별 예외 처리 누적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370832"/>
            <a:ext cx="658368" cy="237744"/>
          </a:xfrm>
          <a:prstGeom prst="roundRect">
            <a:avLst/>
          </a:prstGeom>
          <a:solidFill>
            <a:srgbClr val="FE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11980"/>
            <a:ext cx="658368" cy="17373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/>
            <a:r>
              <a:rPr sz="900" b="1">
                <a:solidFill>
                  <a:srgbClr val="D25C5C"/>
                </a:solidFill>
                <a:latin typeface="Malgun Gothic"/>
              </a:rPr>
              <a:t>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90872"/>
            <a:ext cx="3319272" cy="45720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180" b="0">
                <a:solidFill>
                  <a:srgbClr val="ECF3FA"/>
                </a:solidFill>
                <a:latin typeface="Malgun Gothic"/>
              </a:rPr>
              <a:t>클라이언트 로직을 그대로 서버로 옮기면
서버에도 동일한 유지보수 부담이 누적됩니다.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2057400"/>
            <a:ext cx="3383280" cy="29260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600" b="1">
                <a:solidFill>
                  <a:srgbClr val="0E274E"/>
                </a:solidFill>
                <a:latin typeface="Malgun Gothic"/>
              </a:rPr>
              <a:t>현재 진행 작업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2404872"/>
            <a:ext cx="6126480" cy="21945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050" b="0">
                <a:solidFill>
                  <a:srgbClr val="526074"/>
                </a:solidFill>
                <a:latin typeface="Malgun Gothic"/>
              </a:rPr>
              <a:t>서버 이관에 필요한 기반 구조를 4개 작업으로 정리했습니다.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28032" y="2843784"/>
            <a:ext cx="31272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28032" y="2843784"/>
            <a:ext cx="64008" cy="1097280"/>
          </a:xfrm>
          <a:prstGeom prst="rect">
            <a:avLst/>
          </a:prstGeom>
          <a:solidFill>
            <a:srgbClr val="1F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29200" y="3063240"/>
            <a:ext cx="384048" cy="384048"/>
          </a:xfrm>
          <a:prstGeom prst="ellipse">
            <a:avLst/>
          </a:prstGeom>
          <a:solidFill>
            <a:srgbClr val="E5F0FC"/>
          </a:solidFill>
          <a:ln>
            <a:solidFill>
              <a:srgbClr val="C2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3131820"/>
            <a:ext cx="384048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/>
            <a:r>
              <a:rPr sz="950" b="1">
                <a:solidFill>
                  <a:srgbClr val="1F87E5"/>
                </a:solidFill>
                <a:latin typeface="Malgun Gothic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3044952"/>
            <a:ext cx="2194560" cy="25603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360" b="1">
                <a:solidFill>
                  <a:srgbClr val="0E274E"/>
                </a:solidFill>
                <a:latin typeface="Malgun Gothic"/>
              </a:rPr>
              <a:t>ThreadTimer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3374136"/>
            <a:ext cx="2194560" cy="40233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150" b="0">
                <a:solidFill>
                  <a:srgbClr val="5D6A7C"/>
                </a:solidFill>
                <a:latin typeface="Malgun Gothic"/>
              </a:rPr>
              <a:t>주기성 작업 분리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1" y="2843784"/>
            <a:ext cx="31272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11311" y="2843784"/>
            <a:ext cx="64008" cy="1097280"/>
          </a:xfrm>
          <a:prstGeom prst="rect">
            <a:avLst/>
          </a:prstGeom>
          <a:solidFill>
            <a:srgbClr val="1F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12480" y="3063240"/>
            <a:ext cx="384048" cy="384048"/>
          </a:xfrm>
          <a:prstGeom prst="ellipse">
            <a:avLst/>
          </a:prstGeom>
          <a:solidFill>
            <a:srgbClr val="E5F0FC"/>
          </a:solidFill>
          <a:ln>
            <a:solidFill>
              <a:srgbClr val="C2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131820"/>
            <a:ext cx="384048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/>
            <a:r>
              <a:rPr sz="950" b="1">
                <a:solidFill>
                  <a:srgbClr val="1F87E5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3" y="3044952"/>
            <a:ext cx="2194560" cy="25603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360" b="1">
                <a:solidFill>
                  <a:srgbClr val="0E274E"/>
                </a:solidFill>
                <a:latin typeface="Malgun Gothic"/>
              </a:rPr>
              <a:t>DBDispatcher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4543" y="3374136"/>
            <a:ext cx="2194560" cy="40233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150" b="0">
                <a:solidFill>
                  <a:srgbClr val="5D6A7C"/>
                </a:solidFill>
                <a:latin typeface="Malgun Gothic"/>
              </a:rPr>
              <a:t>유저 단위 DB 병렬 처리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28032" y="4096512"/>
            <a:ext cx="31272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28032" y="4096512"/>
            <a:ext cx="64008" cy="1097280"/>
          </a:xfrm>
          <a:prstGeom prst="rect">
            <a:avLst/>
          </a:prstGeom>
          <a:solidFill>
            <a:srgbClr val="1F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29200" y="4315968"/>
            <a:ext cx="384048" cy="384048"/>
          </a:xfrm>
          <a:prstGeom prst="ellipse">
            <a:avLst/>
          </a:prstGeom>
          <a:solidFill>
            <a:srgbClr val="E5F0FC"/>
          </a:solidFill>
          <a:ln>
            <a:solidFill>
              <a:srgbClr val="C2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0" y="4384548"/>
            <a:ext cx="384048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/>
            <a:r>
              <a:rPr sz="950" b="1">
                <a:solidFill>
                  <a:srgbClr val="1F87E5"/>
                </a:solidFill>
                <a:latin typeface="Malgun 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1264" y="4297679"/>
            <a:ext cx="2194560" cy="25603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360" b="1">
                <a:solidFill>
                  <a:srgbClr val="0E274E"/>
                </a:solidFill>
                <a:latin typeface="Malgun Gothic"/>
              </a:rPr>
              <a:t>FSM / TaskScheduler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1264" y="4626864"/>
            <a:ext cx="2194560" cy="40233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150" b="0">
                <a:solidFill>
                  <a:srgbClr val="5D6A7C"/>
                </a:solidFill>
                <a:latin typeface="Malgun Gothic"/>
              </a:rPr>
              <a:t>몬스터 AI 상태 관리 기반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11311" y="4096512"/>
            <a:ext cx="31272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11311" y="4096512"/>
            <a:ext cx="64008" cy="1097280"/>
          </a:xfrm>
          <a:prstGeom prst="rect">
            <a:avLst/>
          </a:prstGeom>
          <a:solidFill>
            <a:srgbClr val="1F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412480" y="4315968"/>
            <a:ext cx="384048" cy="384048"/>
          </a:xfrm>
          <a:prstGeom prst="ellipse">
            <a:avLst/>
          </a:prstGeom>
          <a:solidFill>
            <a:srgbClr val="E5F0FC"/>
          </a:solidFill>
          <a:ln>
            <a:solidFill>
              <a:srgbClr val="C2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4384548"/>
            <a:ext cx="384048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/>
            <a:r>
              <a:rPr sz="950" b="1">
                <a:solidFill>
                  <a:srgbClr val="1F87E5"/>
                </a:solidFill>
                <a:latin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3" y="4297679"/>
            <a:ext cx="2194560" cy="25603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360" b="1">
                <a:solidFill>
                  <a:srgbClr val="0E274E"/>
                </a:solidFill>
                <a:latin typeface="Malgun Gothic"/>
              </a:rPr>
              <a:t>캐릭터 구조 리팩토링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3" y="4626864"/>
            <a:ext cx="2194560" cy="40233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150" b="0">
                <a:solidFill>
                  <a:srgbClr val="5D6A7C"/>
                </a:solidFill>
                <a:latin typeface="Malgun Gothic"/>
              </a:rPr>
              <a:t>Char 중심 예외 처리 분리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650992"/>
            <a:ext cx="108813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5650992"/>
            <a:ext cx="91440" cy="804672"/>
          </a:xfrm>
          <a:prstGeom prst="rect">
            <a:avLst/>
          </a:prstGeom>
          <a:solidFill>
            <a:srgbClr val="2E8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90488" y="5797296"/>
            <a:ext cx="10972" cy="512064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0976" y="5833872"/>
            <a:ext cx="91440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000" b="1">
                <a:solidFill>
                  <a:srgbClr val="2E845D"/>
                </a:solidFill>
                <a:latin typeface="Malgun Gothic"/>
              </a:rPr>
              <a:t>향후 방향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" y="6089904"/>
            <a:ext cx="489204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230" b="1">
                <a:solidFill>
                  <a:srgbClr val="0E274E"/>
                </a:solidFill>
                <a:latin typeface="Malgun Gothic"/>
              </a:rPr>
              <a:t>전투 / Bullet / Magic / Map 구조 정리 후 단계적 서버 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7" y="5833872"/>
            <a:ext cx="91440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000" b="1">
                <a:solidFill>
                  <a:srgbClr val="1F87E5"/>
                </a:solidFill>
                <a:latin typeface="Malgun Gothic"/>
              </a:rPr>
              <a:t>기대 효과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089904"/>
            <a:ext cx="4892040" cy="22860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/>
            <a:r>
              <a:rPr sz="1060" b="0">
                <a:solidFill>
                  <a:srgbClr val="071934"/>
                </a:solidFill>
                <a:latin typeface="Malgun Gothic"/>
              </a:rPr>
              <a:t>부하 감소 · 영향 범위 축소 · 유지보수성 개선 · 이관 기반 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r"/>
            <a:r>
              <a:rPr sz="900" b="0">
                <a:solidFill>
                  <a:srgbClr val="5D6A7C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개선 필요성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75888" y="3246120"/>
            <a:ext cx="384048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644384" y="3246120"/>
            <a:ext cx="384048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1874520"/>
            <a:ext cx="2889504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9808" y="1874520"/>
            <a:ext cx="2889504" cy="64008"/>
          </a:xfrm>
          <a:prstGeom prst="rect">
            <a:avLst/>
          </a:prstGeom>
          <a:solidFill>
            <a:srgbClr val="B43C3C"/>
          </a:solidFill>
          <a:ln w="12700">
            <a:solidFill>
              <a:srgbClr val="B43C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2020824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B4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25603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문제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14400" y="2532888"/>
            <a:ext cx="2560320" cy="2404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하드코딩 조건 처리, 매직넘버, 중복 구현 로직, 타입별 예외 처리가 전체적으로 많이 남아 있습니다.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캐릭터, 스킬, 총알, 마법, 전투 로직은 거대한 switch / if-else 구조에 의존하는 부분이 많습니다.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874520"/>
            <a:ext cx="34015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206240" y="1874520"/>
            <a:ext cx="3401568" cy="6400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370832" y="2020824"/>
            <a:ext cx="30723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370832" y="2240280"/>
            <a:ext cx="307238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이관 리스크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370832" y="2532888"/>
            <a:ext cx="3072384" cy="2404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로직을 그대로 서버로 옮기면 서버 코드 역시 동일한 기술부채를 가져가게 됩니다.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이관만으로는 안정적인 서버 베이스 전환이 어렵습니다.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74736" y="1874520"/>
            <a:ext cx="3273552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4736" y="1874520"/>
            <a:ext cx="3273552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339328" y="2020824"/>
            <a:ext cx="29443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8339328" y="2240280"/>
            <a:ext cx="294436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방향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339328" y="2532888"/>
            <a:ext cx="2944368" cy="2404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그대로 복사하지 않고, 서버 기준 구조에 맞게 역할별 모듈로 나누어 단계적으로 이관합니다.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기반 구조를 정리한 뒤 전투 로직을 확장합니다.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2327" y="5623560"/>
            <a:ext cx="10607040" cy="347472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상세보다 중요한 판단 기준은 “그대로 옮기지 않고, 구조를 먼저 정리한다”는 방향입니다.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7F2FD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8BE6"/>
                </a:solidFill>
                <a:latin typeface="Malgun Gothic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400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91F3F"/>
                </a:solidFill>
                <a:latin typeface="Malgun Gothic"/>
              </a:rPr>
              <a:t>현재까지 진행한 작업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10972800" cy="18288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75136" y="6528816"/>
            <a:ext cx="228600" cy="146304"/>
          </a:xfrm>
          <a:prstGeom prst="rect">
            <a:avLst/>
          </a:prstGeom>
          <a:noFill/>
        </p:spPr>
        <p:txBody>
          <a:bodyPr wrap="square" lIns="9144" tIns="4572" rIns="9144" bIns="457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A7D"/>
                </a:solidFill>
                <a:latin typeface="Malgun Gothic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5074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783080"/>
            <a:ext cx="5074920" cy="68580"/>
          </a:xfrm>
          <a:prstGeom prst="rect">
            <a:avLst/>
          </a:prstGeom>
          <a:solidFill>
            <a:srgbClr val="19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2560320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98BE6"/>
                </a:solidFill>
                <a:latin typeface="Malgun Gothic"/>
              </a:rPr>
              <a:t>서버 · 정진욱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1325880" cy="256032"/>
          </a:xfrm>
          <a:prstGeom prst="roundRect">
            <a:avLst/>
          </a:prstGeom>
          <a:solidFill>
            <a:srgbClr val="19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8" y="1988820"/>
            <a:ext cx="1325880" cy="109728"/>
          </a:xfrm>
          <a:prstGeom prst="rect">
            <a:avLst/>
          </a:prstGeom>
          <a:noFill/>
        </p:spPr>
        <p:txBody>
          <a:bodyPr wrap="square" lIns="9144" tIns="4572" rIns="9144" bIns="457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Malgun Gothic"/>
              </a:rPr>
              <a:t>2025년 1분기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58568"/>
            <a:ext cx="4709159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91F3F"/>
                </a:solidFill>
                <a:latin typeface="Malgun Gothic"/>
              </a:rPr>
              <a:t>ThreadTimer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642615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목적 : 주기성 작업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898648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개선 : 별도 타이머 / 스케줄러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154680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효과 : 메인 루프 부하 감소 · 정기 작업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783080"/>
            <a:ext cx="5074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27648" y="1783080"/>
            <a:ext cx="5074920" cy="68580"/>
          </a:xfrm>
          <a:prstGeom prst="rect">
            <a:avLst/>
          </a:prstGeom>
          <a:solidFill>
            <a:srgbClr val="19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947672"/>
            <a:ext cx="2560320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98BE6"/>
                </a:solidFill>
                <a:latin typeface="Malgun Gothic"/>
              </a:rPr>
              <a:t>서버 · 정진욱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93808" y="1938528"/>
            <a:ext cx="1325880" cy="256032"/>
          </a:xfrm>
          <a:prstGeom prst="roundRect">
            <a:avLst/>
          </a:prstGeom>
          <a:solidFill>
            <a:srgbClr val="19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93808" y="1988820"/>
            <a:ext cx="1325880" cy="109728"/>
          </a:xfrm>
          <a:prstGeom prst="rect">
            <a:avLst/>
          </a:prstGeom>
          <a:noFill/>
        </p:spPr>
        <p:txBody>
          <a:bodyPr wrap="square" lIns="9144" tIns="4572" rIns="9144" bIns="457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Malgun Gothic"/>
              </a:rPr>
              <a:t>2025년 3분기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258568"/>
            <a:ext cx="4709159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91F3F"/>
                </a:solidFill>
                <a:latin typeface="Malgun Gothic"/>
              </a:rPr>
              <a:t>DBDispatcher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2642615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목적 : DB 병목 해소 · 순서 보장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2898648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개선 : 유저별 큐 + 워커 스레드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3154680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효과 : 처리 지연 감소 · 분산 처리 기반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160520"/>
            <a:ext cx="5074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8" y="4160520"/>
            <a:ext cx="5074920" cy="68580"/>
          </a:xfrm>
          <a:prstGeom prst="rect">
            <a:avLst/>
          </a:prstGeom>
          <a:solidFill>
            <a:srgbClr val="19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325112"/>
            <a:ext cx="2560320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98BE6"/>
                </a:solidFill>
                <a:latin typeface="Malgun Gothic"/>
              </a:rPr>
              <a:t>서버 · 정진욱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4315968"/>
            <a:ext cx="1325880" cy="256032"/>
          </a:xfrm>
          <a:prstGeom prst="roundRect">
            <a:avLst/>
          </a:prstGeom>
          <a:solidFill>
            <a:srgbClr val="19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15968" y="4366259"/>
            <a:ext cx="1325880" cy="109728"/>
          </a:xfrm>
          <a:prstGeom prst="rect">
            <a:avLst/>
          </a:prstGeom>
          <a:noFill/>
        </p:spPr>
        <p:txBody>
          <a:bodyPr wrap="square" lIns="9144" tIns="4572" rIns="9144" bIns="457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Malgun Gothic"/>
              </a:rPr>
              <a:t>2025년 4분기 적용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636008"/>
            <a:ext cx="4709159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91F3F"/>
                </a:solidFill>
                <a:latin typeface="Malgun Gothic"/>
              </a:rPr>
              <a:t>FSM / TaskScheduler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5020056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목적 : 몬스터 AI 서버 이전 기반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5276088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개선 : FSM 상태 관리 + 주기 업데이트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5532120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효과 : 상태 전환 구조 정리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4160520"/>
            <a:ext cx="5074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27648" y="4160520"/>
            <a:ext cx="5074920" cy="68580"/>
          </a:xfrm>
          <a:prstGeom prst="rect">
            <a:avLst/>
          </a:prstGeom>
          <a:solidFill>
            <a:srgbClr val="27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10528" y="4325112"/>
            <a:ext cx="2560320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277E56"/>
                </a:solidFill>
                <a:latin typeface="Malgun Gothic"/>
              </a:rPr>
              <a:t>클라이언트 · 갈원태 / 정진욱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10928" y="4315968"/>
            <a:ext cx="1508760" cy="256032"/>
          </a:xfrm>
          <a:prstGeom prst="roundRect">
            <a:avLst/>
          </a:prstGeom>
          <a:solidFill>
            <a:srgbClr val="27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0928" y="4366259"/>
            <a:ext cx="1508760" cy="109728"/>
          </a:xfrm>
          <a:prstGeom prst="rect">
            <a:avLst/>
          </a:prstGeom>
          <a:noFill/>
        </p:spPr>
        <p:txBody>
          <a:bodyPr wrap="square" lIns="9144" tIns="4572" rIns="9144" bIns="457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Malgun Gothic"/>
              </a:rPr>
              <a:t>적용 시점 추후 확정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4636008"/>
            <a:ext cx="4709159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91F3F"/>
                </a:solidFill>
                <a:latin typeface="Malgun Gothic"/>
              </a:rPr>
              <a:t>캐릭터 구조 리팩토링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5020056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목적 : Char 중심 예외 처리 개선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5276088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개선 : helper / manager / pool 분리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8816" y="5532120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5C6A7D"/>
                </a:solidFill>
                <a:latin typeface="Malgun Gothic"/>
              </a:rPr>
              <a:t>효과 : 서버 이관 위치 명확화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진행 예정 작업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5568" y="2871216"/>
            <a:ext cx="9784080" cy="0"/>
          </a:xfrm>
          <a:prstGeom prst="line">
            <a:avLst/>
          </a:prstGeom>
          <a:noFill/>
          <a:ln w="1778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435608" y="2624328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35608" y="2688336"/>
            <a:ext cx="4114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3246120"/>
            <a:ext cx="2331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3246120"/>
            <a:ext cx="23317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392424"/>
            <a:ext cx="2002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20025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구조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904488"/>
            <a:ext cx="200253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CBattle 흐름에 몰린 전투 종류별 생성, 셋업, 진행, 종료 처리 분리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4270248" y="2624328"/>
            <a:ext cx="411480" cy="4114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70248" y="2688336"/>
            <a:ext cx="4114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84448" y="3246120"/>
            <a:ext cx="2331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584448" y="3246120"/>
            <a:ext cx="233172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749040" y="3392424"/>
            <a:ext cx="2002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3749040" y="3611880"/>
            <a:ext cx="20025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Bullet 구조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904488"/>
            <a:ext cx="200253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 / if-else 분기를 줄이고, 데이터 주도형 처리 구조로 정리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7104888" y="2624328"/>
            <a:ext cx="411480" cy="4114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04888" y="2688336"/>
            <a:ext cx="4114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19088" y="3246120"/>
            <a:ext cx="2331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19088" y="3246120"/>
            <a:ext cx="233172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83680" y="3392424"/>
            <a:ext cx="2002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583680" y="3611880"/>
            <a:ext cx="20025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Magic 구조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904488"/>
            <a:ext cx="200253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1천 개 규모 파생 클래스의 중복 구현을 외부 모듈과 base 계층으로 정리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9939528" y="2624328"/>
            <a:ext cx="411480" cy="4114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939528" y="2688336"/>
            <a:ext cx="4114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253728" y="3246120"/>
            <a:ext cx="2331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253728" y="3246120"/>
            <a:ext cx="233172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3392424"/>
            <a:ext cx="2002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9418320" y="3611880"/>
            <a:ext cx="20025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 구조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18320" y="3904488"/>
            <a:ext cx="200253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v1 / v2 맵 정리와 서버용 길찾기 Map 분리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792327" y="5806440"/>
            <a:ext cx="10607040" cy="292608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작업은 클라이언트에 남아 있는 복잡한 로직을 서버 기준 구조에 맞게 정리한 뒤 단계적으로 이관하는 방향입니다.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9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1F4B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EAF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개선 로드맵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35557A"/>
          </a:solidFill>
          <a:ln w="12700">
            <a:solidFill>
              <a:srgbClr val="3555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3154680"/>
            <a:ext cx="10058400" cy="0"/>
          </a:xfrm>
          <a:prstGeom prst="line">
            <a:avLst/>
          </a:prstGeom>
          <a:noFill/>
          <a:ln w="1778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344168" y="2907792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44168" y="3008376"/>
            <a:ext cx="502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1810512" cy="1024128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95528" y="3886200"/>
            <a:ext cx="15910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ThreadTimer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5528" y="4160520"/>
            <a:ext cx="159105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주기성 작업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566160" y="2907792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66160" y="3008376"/>
            <a:ext cx="502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07792" y="3703320"/>
            <a:ext cx="1810512" cy="1024128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017520" y="3886200"/>
            <a:ext cx="15910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DBDispatcher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4160520"/>
            <a:ext cx="159105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단위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처리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797296" y="2907792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797296" y="3008376"/>
            <a:ext cx="502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38928" y="3703320"/>
            <a:ext cx="1810512" cy="1024128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248656" y="3886200"/>
            <a:ext cx="15910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 / TaskScheduler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48656" y="4160520"/>
            <a:ext cx="159105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상태 관리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028432" y="2907792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028432" y="3008376"/>
            <a:ext cx="502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70064" y="3703320"/>
            <a:ext cx="1810512" cy="1024128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479792" y="3886200"/>
            <a:ext cx="15910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구조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79792" y="4160520"/>
            <a:ext cx="159105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 중심 구조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모듈화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10259568" y="2907792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259568" y="3008376"/>
            <a:ext cx="502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01200" y="3703320"/>
            <a:ext cx="1810512" cy="1024128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710928" y="3886200"/>
            <a:ext cx="15910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이관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10928" y="4160520"/>
            <a:ext cx="159105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/ Bullet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Magic / Map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804672" y="5394960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먼저 정리하고, 그 위에 서버 이관을 단계적으로 쌓아가는 흐름입니다.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A9B9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5740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ThreadTimer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ThreadTimer 시스템 개발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10789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스레드에 몰려 있던 주기성 작업을 별도 타이머 구조로 분리했습니다.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5221224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27064" y="1874520"/>
            <a:ext cx="5221224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9808" y="1874520"/>
            <a:ext cx="5221224" cy="73152"/>
          </a:xfrm>
          <a:prstGeom prst="rect">
            <a:avLst/>
          </a:prstGeom>
          <a:solidFill>
            <a:srgbClr val="B43C3C"/>
          </a:solidFill>
          <a:ln w="12700">
            <a:solidFill>
              <a:srgbClr val="B43C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27064" y="1874520"/>
            <a:ext cx="5221224" cy="7315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50976" y="2039112"/>
            <a:ext cx="48188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구조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039112"/>
            <a:ext cx="48188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구조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2441448"/>
            <a:ext cx="4782312" cy="2221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주기성 작업이 메인 루프 안에서 함께 처리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DB 조회/갱신이 포함된 정기 작업도 메인 스레드에 영향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콘텐츠와 운영성 작업이 늘수록 메인 루프 복잡도 증가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441448"/>
            <a:ext cx="4782312" cy="2221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시간 기반 작업을 별도 타이머/스케줄러 구조로 분리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타이머 ID와 핸들러 기준으로 작업 관리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반복 작업과 One-shot 작업을 같은 구조에서 처리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88720" y="5166360"/>
            <a:ext cx="29260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335024" y="5303520"/>
            <a:ext cx="2633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루프 부하 감소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5024" y="5641848"/>
            <a:ext cx="263347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진행 핵심 처리에 더 집중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5166360"/>
            <a:ext cx="29260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64024" y="5303520"/>
            <a:ext cx="2633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작업 관리 개선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64024" y="5641848"/>
            <a:ext cx="263347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일일/주간/콘텐츠 작업 일관 처리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46720" y="5166360"/>
            <a:ext cx="29260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193024" y="5303520"/>
            <a:ext cx="2633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운영성 작업 대응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93024" y="5641848"/>
            <a:ext cx="263347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타이머 작업 추가 영향 축소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5740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ThreadTimer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ThreadTimer 적용 범위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96112" y="1993392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2052828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44168" y="1965960"/>
            <a:ext cx="2560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CThreadTimer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1344168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타이머 스레드를 관리하고, 타이머 ID에 맞는 처리 함수를 실행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2272" y="182880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08576" y="1993392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08576" y="2052828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56632" y="1965960"/>
            <a:ext cx="2560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CTimer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5056632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타이머의 실행 주기, 반복 여부, 다음 실행 시점을 관리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74736" y="182880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321040" y="1993392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21040" y="2052828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769096" y="1965960"/>
            <a:ext cx="2560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CTaskScheduler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8769096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시점에 실행해야 하는 예약 작업을 관리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" y="3429000"/>
            <a:ext cx="5138928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32688" y="3575304"/>
            <a:ext cx="47731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적용 작업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950976" y="3904488"/>
            <a:ext cx="4736592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매시간 갱신 / 일일·주간·월간 초기화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콘텐츠 오픈·종료 및 랭킹 초기화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공성전 시작·종료·업데이트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상점 갱신, 반복 퀘스트 초기화, 아이템 가격 변동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DB 조회/갱신이 포함된 정기 작업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236208" y="3429000"/>
            <a:ext cx="516636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19088" y="3575304"/>
            <a:ext cx="4800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효과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6437376" y="3904488"/>
            <a:ext cx="4764024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단순 시간 체크를 넘어 서버 상태 변경 작업까지 분리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메인 스레드에서 직접 처리하던 부담 축소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반복 작업과 단발 작업을 같은 구조에서 관리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이후 서버 구조 개선을 이어가기 위한 기반으로 활용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5740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DBDispatcher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DBDispatcher 시스템 개발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10789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유저의 처리 순서는 지키고, 서로 다른 유저의 요청은 병렬로 처리합니다.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84832" y="2971800"/>
            <a:ext cx="384048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114800" y="2971800"/>
            <a:ext cx="384048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172200" y="2971800"/>
            <a:ext cx="384048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0" y="2971800"/>
            <a:ext cx="384048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41732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32104" y="2496312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2104" y="2555748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80160" y="2468880"/>
            <a:ext cx="731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요청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1280160" y="2715768"/>
            <a:ext cx="7315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접속, 저장, 재화, 콘텐츠 상태 등 요청 발생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87168" y="2331720"/>
            <a:ext cx="164592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633472" y="2496312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633472" y="2555748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81528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유저별 큐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3081528" y="2715768"/>
            <a:ext cx="960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CUserDBQueue로 같은 유저 요청 순서 관리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17136" y="2331720"/>
            <a:ext cx="167335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63440" y="2496312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663440" y="2555748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11496" y="246888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보장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5111496" y="2715768"/>
            <a:ext cx="98755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유저 요청은 순서대로 처리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74536" y="2331720"/>
            <a:ext cx="167335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720840" y="2496312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720840" y="2555748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68896" y="246888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 분배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7168896" y="2715768"/>
            <a:ext cx="98755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가능한 요청을 Worker Thread로 분배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31936" y="2331720"/>
            <a:ext cx="26974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778240" y="2496312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778240" y="2555748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226296" y="2468880"/>
            <a:ext cx="2011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처리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9226296" y="2715768"/>
            <a:ext cx="20116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유저의 요청은 가능한 범위에서 동시 처리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0120" y="4297680"/>
            <a:ext cx="3154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960120" y="4297680"/>
            <a:ext cx="315468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124712" y="4443984"/>
            <a:ext cx="28254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1124712" y="4663440"/>
            <a:ext cx="2825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1124712" y="4956048"/>
            <a:ext cx="282549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유저별 요청은 각각의 큐에서 순서대로 처리합니다.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4498848" y="4297680"/>
            <a:ext cx="3154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498848" y="4297680"/>
            <a:ext cx="315468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663440" y="4443984"/>
            <a:ext cx="28254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4663440" y="4663440"/>
            <a:ext cx="2825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분산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4663440" y="4956048"/>
            <a:ext cx="282549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유저의 요청은 워커 스레드에서 병렬로 처리합니다.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8037576" y="4297680"/>
            <a:ext cx="3154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037576" y="4297680"/>
            <a:ext cx="315468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202168" y="4443984"/>
            <a:ext cx="28254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8202168" y="4663440"/>
            <a:ext cx="2825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완화</a:t>
            </a:r>
            <a:endParaRPr lang="en-US" sz="1320" dirty="0"/>
          </a:p>
        </p:txBody>
      </p:sp>
      <p:sp>
        <p:nvSpPr>
          <p:cNvPr id="50" name="Text 48"/>
          <p:cNvSpPr/>
          <p:nvPr/>
        </p:nvSpPr>
        <p:spPr>
          <a:xfrm>
            <a:off x="8202168" y="4956048"/>
            <a:ext cx="282549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유저나 콘텐츠의 요청이 전체 흐름을 막는 상황을 줄입니다.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5740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DBDispatcher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DBDispatcher 적용 효과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40156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401568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975104"/>
            <a:ext cx="30723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 처리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07238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CDBDispatcher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3072384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DB 요청 처리의 중심 역할을 담당합니다. 유저 단위 요청과 공용 요청을 등록하고 워커 스레드로 분배합니다.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4370832" y="1828800"/>
            <a:ext cx="340156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3401568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35424" y="1975104"/>
            <a:ext cx="30723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보장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535424" y="2194560"/>
            <a:ext cx="307238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CUserDBQueue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35424" y="2487168"/>
            <a:ext cx="3072384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유저별 DB 요청 큐를 관리합니다. 같은 유저의 요청이 순서대로 처리되도록 구성했습니다.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0156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991856" y="1828800"/>
            <a:ext cx="3401568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156448" y="1975104"/>
            <a:ext cx="30723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부담 감소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8156448" y="2194560"/>
            <a:ext cx="307238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CDBMsg / Pool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156448" y="2487168"/>
            <a:ext cx="3072384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요청 메시지를 풀 기반으로 재사용합니다. 요청이 많은 상황에서 반복적인 객체 생성 부담을 줄입니다.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749808" y="4069080"/>
            <a:ext cx="5138928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32688" y="4215384"/>
            <a:ext cx="47731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적용 작업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950976" y="4544568"/>
            <a:ext cx="473659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캐릭터 정보, 아이템, 재화, 퀘스트 상태 저장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콘텐츠 진행 정보, 랭킹/기록 갱신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접속/로그아웃 관련 DB 처리와 유저별 INSERT / UPDATE 요청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6208" y="4069080"/>
            <a:ext cx="5138928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19088" y="4215384"/>
            <a:ext cx="47731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6437376" y="4544568"/>
            <a:ext cx="473659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DB 요청이 하나의 큐나 흐름에 몰리는 문제 완화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전체 DB 처리 지연 감소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유저 데이터의 처리 순서를 지키면서 분산 처리 가능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 / TaskScheduler 시스템 개발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10789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 AI를 서버로 옮기기 전에 상태 관리와 주기 업데이트 기반을 먼저 구축했습니다.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12848" y="2907792"/>
            <a:ext cx="512064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389120" y="2907792"/>
            <a:ext cx="512064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65392" y="2907792"/>
            <a:ext cx="512064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741664" y="2907792"/>
            <a:ext cx="512064" cy="0"/>
          </a:xfrm>
          <a:prstGeom prst="line">
            <a:avLst/>
          </a:prstGeom>
          <a:noFill/>
          <a:ln w="16510">
            <a:solidFill>
              <a:srgbClr val="DDE5E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7190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04672" y="2432304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4672" y="2491740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52728" y="2404872"/>
            <a:ext cx="10332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Monster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1252728" y="2651760"/>
            <a:ext cx="103327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보유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0" y="2267712"/>
            <a:ext cx="17190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980944" y="2432304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980944" y="2491740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2404872"/>
            <a:ext cx="10332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 상태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3429000" y="2651760"/>
            <a:ext cx="103327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/ 이동 / 전투 / 사망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10912" y="2267712"/>
            <a:ext cx="17190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157216" y="2432304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157216" y="2491740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05272" y="2404872"/>
            <a:ext cx="10332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처리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5605272" y="2651760"/>
            <a:ext cx="103327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/ 업데이트 / 전환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87184" y="2267712"/>
            <a:ext cx="17190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333488" y="2432304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333488" y="2491740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81544" y="2404872"/>
            <a:ext cx="10332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TaskScheduler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7781544" y="2651760"/>
            <a:ext cx="103327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주기로 FSM 업데이트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63456" y="2267712"/>
            <a:ext cx="17190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509760" y="2432304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9509760" y="2491740"/>
            <a:ext cx="347472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957816" y="2404872"/>
            <a:ext cx="10332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AI 기반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9957816" y="2651760"/>
            <a:ext cx="103327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행동 판단 서버 처리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9808" y="416052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32688" y="4306824"/>
            <a:ext cx="4617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B4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문제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950976" y="4636008"/>
            <a:ext cx="4581144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몬스터 AI가 클라이언트 코드에 있어 서버 상태 흐름 관리 기반 부족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상태 관리 구조가 없으면 조건문 중심으로 복잡해질 가능성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메인 루프 직접 처리 시 몬스터 개체 수 증가에 따른 부하 관리 어려움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007608" y="4160520"/>
            <a:ext cx="54406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190488" y="4306824"/>
            <a:ext cx="5074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효과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6208776" y="4636008"/>
            <a:ext cx="5038344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몬스터 상태별 처리를 분리해 AI 로직 확장에 유리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TaskScheduler로 FSM 업데이트를 관리 가능한 주기로 실행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향후 몬스터 행동 판단과 상태 전환을 서버 중심으로 처리 가능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 적용 범위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40156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401568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975104"/>
            <a:ext cx="30723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07238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관리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3072384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몬스터는 현재 상태를 가지고 있고, 상태에 따라 대기, 이동, 전투, 사망 등 서로 다른 처리를 수행합니다.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1828800"/>
            <a:ext cx="340156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3401568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35424" y="1975104"/>
            <a:ext cx="30723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535424" y="2194560"/>
            <a:ext cx="307238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전환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35424" y="2487168"/>
            <a:ext cx="3072384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진입 시 처리와 상태 업데이트를 분리하고, 정해진 조건에서만 다음 상태로 변경되도록 구성했습니다.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0156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991856" y="1828800"/>
            <a:ext cx="3401568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156448" y="1975104"/>
            <a:ext cx="30723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8156448" y="2194560"/>
            <a:ext cx="307238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업데이트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156448" y="2487168"/>
            <a:ext cx="3072384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 AI를 매 순간 처리하지 않고, TaskScheduler를 통해 정해진 주기마다 업데이트합니다.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4160520"/>
            <a:ext cx="5138928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32688" y="4306824"/>
            <a:ext cx="47731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적용 대상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950976" y="4636008"/>
            <a:ext cx="473659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몬스터 대기 / 이동 / 전투 / 사망 상태 처리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상태별 진입 및 업데이트 처리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 몬스터 AI 로직의 서버 이전 준비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6208" y="4160520"/>
            <a:ext cx="5138928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19088" y="4306824"/>
            <a:ext cx="47731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관점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6437376" y="4636008"/>
            <a:ext cx="473659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 작업은 몬스터 AI 자체를 서버로 옮긴 작업이 아니라,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서버에서 AI 상태와 업데이트를 관리할 수 있는 기반을 먼저 만든 작업입니다.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구조 리팩토링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10789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 중심의 예외 처리 구조를 역할별 모듈 조합 구조로 전환했습니다.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5221224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27064" y="1874520"/>
            <a:ext cx="5221224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9808" y="1874520"/>
            <a:ext cx="5221224" cy="73152"/>
          </a:xfrm>
          <a:prstGeom prst="rect">
            <a:avLst/>
          </a:prstGeom>
          <a:solidFill>
            <a:srgbClr val="B43C3C"/>
          </a:solidFill>
          <a:ln w="12700">
            <a:solidFill>
              <a:srgbClr val="B43C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27064" y="1874520"/>
            <a:ext cx="5221224" cy="7315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50976" y="2039112"/>
            <a:ext cx="48188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구조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039112"/>
            <a:ext cx="48188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구조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2441448"/>
            <a:ext cx="4782312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Char 중심 구조에 타입별 조건 분기 누적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CR[id] 전역 접근 증가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스킬별 상태 변수와 멤버 증가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생성/재사용/AI/패턴/소환/투사체 로직 혼재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기능 추가 시 수정 영향 범위 확대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441448"/>
            <a:ext cx="4782312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CharAccessor로 접근 제어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CharacterPool / CharInstantiateModule로 생성과 재사용 분리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타입별 파생 클래스와 hook으로 차이 분리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Helper / Manager / Pool 구조로 역할 분리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/ Pattern / Skill / Recall / Projectile / Magic 처리 모듈화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클라베이스 캐릭터 로직을 서버로 이관할 때, 각 기능이 들어갈 위치를 명확히 하기 위한 선행 작업입니다.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주요 분리 구조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171907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96112" y="1865376"/>
            <a:ext cx="822960" cy="256032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810512" y="184708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CharAccessor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1810512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CR[id] 호출 호환성을 유지하면서 내부 Char* 슬롯 배열 직접 노출을 차단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236208" y="171907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82512" y="1865376"/>
            <a:ext cx="822960" cy="256032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82512" y="192024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생성/재사용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296912" y="184708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CharacterPool / CharInstantiateModule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7296912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타입별 객체 생성과 재사용 책임을 별도 구조로 분리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49808" y="277063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96112" y="2916936"/>
            <a:ext cx="822960" cy="256032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96112" y="297180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타입별 동작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810512" y="289864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 파생 클래스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810512" y="313639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Hero, Mercenary, Monster, Summon 등 타입별 클래스로 분리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236208" y="277063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382512" y="2916936"/>
            <a:ext cx="822960" cy="256032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382512" y="297180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계산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296912" y="289864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CharHelpers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7296912" y="313639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탐색, 위치 계산, 인스턴스 판정 등 상태 없는 계산 로직 분리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49808" y="382219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96112" y="3968496"/>
            <a:ext cx="822960" cy="256032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96112" y="402336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패턴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810512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AIDispatcher / Pattern Module</a:t>
            </a:r>
            <a:endParaRPr lang="en-US" sz="1160" dirty="0"/>
          </a:p>
        </p:txBody>
      </p:sp>
      <p:sp>
        <p:nvSpPr>
          <p:cNvPr id="30" name="Text 28"/>
          <p:cNvSpPr/>
          <p:nvPr/>
        </p:nvSpPr>
        <p:spPr>
          <a:xfrm>
            <a:off x="1810512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판정·실행 로직과 패턴형 보스/이벤트 로직을 분리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236208" y="382219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382512" y="3968496"/>
            <a:ext cx="822960" cy="256032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382512" y="402336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스킬/효과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7296912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SkillDataManager / ActiveEffectTracker</a:t>
            </a:r>
            <a:endParaRPr lang="en-US" sz="1160" dirty="0"/>
          </a:p>
        </p:txBody>
      </p:sp>
      <p:sp>
        <p:nvSpPr>
          <p:cNvPr id="35" name="Text 33"/>
          <p:cNvSpPr/>
          <p:nvPr/>
        </p:nvSpPr>
        <p:spPr>
          <a:xfrm>
            <a:off x="7296912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상태와 구조체 접근을 Char 본체에서 분리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749808" y="487375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96112" y="5020056"/>
            <a:ext cx="822960" cy="256032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96112" y="507492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소환/투사체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1810512" y="500176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RecallMgr / Projectile Pattern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1810512" y="523951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예외 처리와 발사 규칙·좌표 계산을 모듈화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236208" y="4873752"/>
            <a:ext cx="5074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382512" y="5020056"/>
            <a:ext cx="822960" cy="256032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382512" y="507492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296912" y="500176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CMagicPool</a:t>
            </a:r>
            <a:endParaRPr lang="en-US" sz="1160" dirty="0"/>
          </a:p>
        </p:txBody>
      </p:sp>
      <p:sp>
        <p:nvSpPr>
          <p:cNvPr id="45" name="Text 43"/>
          <p:cNvSpPr/>
          <p:nvPr/>
        </p:nvSpPr>
        <p:spPr>
          <a:xfrm>
            <a:off x="7296912" y="5239512"/>
            <a:ext cx="3840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마법 객체 할당 정책을 풀 구조로 중앙화해 힙 비용과 단편화 완화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리팩토링 효과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291840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29184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975104"/>
            <a:ext cx="29626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2962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영향 범위 축소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2962656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AI, 패턴, 패시브, 소환, 투사체, 총알 처리를 manager / module 단위로 분리해 특정 기능 수정 시 영향을 받는 범위를 줄입니다.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443984" y="1828800"/>
            <a:ext cx="3291840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43984" y="1828800"/>
            <a:ext cx="329184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08576" y="1975104"/>
            <a:ext cx="29626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이관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608576" y="2194560"/>
            <a:ext cx="2962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이관 위치 명확화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608576" y="2487168"/>
            <a:ext cx="2962656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기존처럼 Char에 상태값과 예외 처리를 계속 추가하지 않고, 기능별 구조에 맞춰 배치할 수 있습니다.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291840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29184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02752" y="1975104"/>
            <a:ext cx="29626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8302752" y="2194560"/>
            <a:ext cx="2962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 개선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302752" y="2487168"/>
            <a:ext cx="2962656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타입별 차이를 파생 클래스와 hook으로 나누어 주인공, 용병, 몬스터, 소환수 흐름을 구분해 적용하기 쉬워집니다.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749808" y="3822192"/>
            <a:ext cx="3291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49808" y="3822192"/>
            <a:ext cx="329184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14400" y="3968496"/>
            <a:ext cx="29626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2962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상태 분리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14400" y="4480560"/>
            <a:ext cx="29626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SkillDataManager, SkillStructManager로 Char 멤버 증가 문제를 줄입니다.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4443984" y="3822192"/>
            <a:ext cx="3291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443984" y="3822192"/>
            <a:ext cx="329184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08576" y="3968496"/>
            <a:ext cx="29626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4608576" y="4187952"/>
            <a:ext cx="2962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관리 개선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4608576" y="4480560"/>
            <a:ext cx="29626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CMagicPool로 반복적인 new/delete에 따른 비용과 단편화 가능성을 줄입니다.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8138160" y="3822192"/>
            <a:ext cx="3291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138160" y="3822192"/>
            <a:ext cx="3291840" cy="640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302752" y="3968496"/>
            <a:ext cx="29626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8302752" y="4187952"/>
            <a:ext cx="2962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정리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302752" y="4480560"/>
            <a:ext cx="29626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구조 전반을 하드코딩 분기 중심에서 모듈 조합 구조로 전환합니다.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기대 효과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24688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21762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부하 감소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350008"/>
            <a:ext cx="217627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루프 집중 작업을 분리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56432" y="1874520"/>
            <a:ext cx="24688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02736" y="2011680"/>
            <a:ext cx="21762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지연 완화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02736" y="2350008"/>
            <a:ext cx="217627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요청 병목 완화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4688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09360" y="2011680"/>
            <a:ext cx="21762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 축소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350008"/>
            <a:ext cx="217627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모듈 단위 대응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69680" y="1874520"/>
            <a:ext cx="24688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15984" y="2011680"/>
            <a:ext cx="21762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이관 기반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15984" y="2350008"/>
            <a:ext cx="217627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캐릭터 구조 준비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9808" y="3547872"/>
            <a:ext cx="5221224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27064" y="3547872"/>
            <a:ext cx="5221224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3547872"/>
            <a:ext cx="5221224" cy="73152"/>
          </a:xfrm>
          <a:prstGeom prst="rect">
            <a:avLst/>
          </a:prstGeom>
          <a:solidFill>
            <a:srgbClr val="B43C3C"/>
          </a:solidFill>
          <a:ln w="12700">
            <a:solidFill>
              <a:srgbClr val="B43C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227064" y="3547872"/>
            <a:ext cx="5221224" cy="7315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50976" y="3712464"/>
            <a:ext cx="48188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접근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8232" y="3712464"/>
            <a:ext cx="48188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접근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" y="4114800"/>
            <a:ext cx="4782312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 로직을 서버에 그대로 추가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메인 루프, DB, AI, Char 구조에 처리 흐름 집중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기능 추가 시 기존 코드 수정 범위 확대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4114800"/>
            <a:ext cx="4782312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 기준 구조에 맞게 역할별로 배치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타이머, DB, FSM, 캐릭터 모듈 구조로 분리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63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신규 콘텐츠와 전투 로직을 모듈 단위로 대응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E88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진행 방향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DDE5EF"/>
          </a:solidFill>
          <a:ln w="12700">
            <a:solidFill>
              <a:srgbClr val="DDE5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10012680" cy="0"/>
          </a:xfrm>
          <a:prstGeom prst="line">
            <a:avLst/>
          </a:prstGeom>
          <a:noFill/>
          <a:ln w="1778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463040" y="2578608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63040" y="2670048"/>
            <a:ext cx="47548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749808" y="324612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20025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종류별 처리 구조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200253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CBattle 흐름에 몰린 전투 종류별 처리를 전용 모듈 또는 파생 구조로 분리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4242816" y="2578608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42816" y="2670048"/>
            <a:ext cx="47548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529584" y="324612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94176" y="3429000"/>
            <a:ext cx="20025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Bullet 처리 구조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3694176" y="3749040"/>
            <a:ext cx="200253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생성, 실행 로직, 명중 이벤트를 모듈화하고 define 데이터를 데이터로 분리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7022592" y="2578608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022592" y="2670048"/>
            <a:ext cx="47548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309360" y="324612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73952" y="3429000"/>
            <a:ext cx="20025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Magic 중복 구현 정리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473952" y="3749040"/>
            <a:ext cx="200253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모듈 위임과 중간 base 계층 정리로 신규 스킬 구현 부담 축소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9802368" y="2578608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802368" y="2670048"/>
            <a:ext cx="47548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089136" y="324612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253728" y="3429000"/>
            <a:ext cx="20025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 구조 정리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9253728" y="3749040"/>
            <a:ext cx="200253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맵 다형성 정리와 서버용 길찾기 Map 분리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804672" y="580644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719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작업도 복잡한 클라이언트 로직을 바로 서버로 복사하지 않고, 서버 기준 구조에 맞게 정리한 뒤 단계적으로 이관하는 방향입니다.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0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9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417320" cy="329184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1F4B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EAF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789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요약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0991088" cy="18288"/>
          </a:xfrm>
          <a:prstGeom prst="rect">
            <a:avLst/>
          </a:prstGeom>
          <a:solidFill>
            <a:srgbClr val="35557A"/>
          </a:solidFill>
          <a:ln w="12700">
            <a:solidFill>
              <a:srgbClr val="35557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1051560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배틀서버 작업은 단순 기능 수정이 아니라,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기반 로직을 서버 기준 구조로 안정적으로 옮기기 위한 기반 정리 작업입니다.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3154680"/>
            <a:ext cx="1783080" cy="1005840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24128" y="3401568"/>
            <a:ext cx="15636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2A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ThreadTimer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024128" y="3703320"/>
            <a:ext cx="156362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주기성 작업 분리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3154680"/>
            <a:ext cx="1783080" cy="1005840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172968" y="3401568"/>
            <a:ext cx="15636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2A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DBDispatcher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172968" y="3703320"/>
            <a:ext cx="156362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처리 구조 개선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3154680"/>
            <a:ext cx="1783080" cy="1005840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21808" y="3401568"/>
            <a:ext cx="15636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2A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321808" y="3703320"/>
            <a:ext cx="156362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상태 관리 기반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60920" y="3154680"/>
            <a:ext cx="1783080" cy="1005840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70648" y="3401568"/>
            <a:ext cx="15636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2A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구조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470648" y="3703320"/>
            <a:ext cx="156362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이관 위치 명확화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509760" y="3154680"/>
            <a:ext cx="1783080" cy="1005840"/>
          </a:xfrm>
          <a:prstGeom prst="roundRect">
            <a:avLst/>
          </a:prstGeom>
          <a:solidFill>
            <a:srgbClr val="102D57"/>
          </a:solidFill>
          <a:ln w="10160">
            <a:solidFill>
              <a:srgbClr val="355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619488" y="3401568"/>
            <a:ext cx="15636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2A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619488" y="3703320"/>
            <a:ext cx="156362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FD0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전투/Bullet/Magic/Map 정리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1248" y="5349240"/>
            <a:ext cx="10424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E1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방향: 구조를 먼저 정리하고, 그 위에 서버 이관을 단계적으로 진행합니다.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A9B9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7E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abel Background"/>
          <p:cNvSpPr/>
          <p:nvPr/>
        </p:nvSpPr>
        <p:spPr>
          <a:xfrm>
            <a:off x="658368" y="384048"/>
            <a:ext cx="914400" cy="310896"/>
          </a:xfrm>
          <a:prstGeom prst="roundRect">
            <a:avLst/>
          </a:prstGeom>
          <a:solidFill>
            <a:srgbClr val="E5F0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Label"/>
          <p:cNvSpPr txBox="1"/>
          <p:nvPr/>
        </p:nvSpPr>
        <p:spPr>
          <a:xfrm>
            <a:off x="658368" y="38404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1">
                <a:solidFill>
                  <a:srgbClr val="1F87E5"/>
                </a:solidFill>
                <a:latin typeface="Malgun Gothic"/>
                <a:ea typeface="Malgun Gothic"/>
              </a:rPr>
              <a:t>목차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58368" y="822960"/>
            <a:ext cx="512064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000" b="1">
                <a:solidFill>
                  <a:srgbClr val="071934"/>
                </a:solidFill>
                <a:latin typeface="Malgun Gothic"/>
                <a:ea typeface="Malgun Gothic"/>
              </a:rPr>
              <a:t>보고서 흐름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58368" y="1298448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50">
                <a:solidFill>
                  <a:srgbClr val="526074"/>
                </a:solidFill>
                <a:latin typeface="Malgun Gothic"/>
                <a:ea typeface="Malgun Gothic"/>
              </a:rPr>
              <a:t>배틀서버 전환을 위한 작업 내용과 향후 계획</a:t>
            </a:r>
          </a:p>
        </p:txBody>
      </p:sp>
      <p:sp>
        <p:nvSpPr>
          <p:cNvPr id="7" name="Divider"/>
          <p:cNvSpPr/>
          <p:nvPr/>
        </p:nvSpPr>
        <p:spPr>
          <a:xfrm>
            <a:off x="658368" y="1636776"/>
            <a:ext cx="10881360" cy="13716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C Row 01"/>
          <p:cNvSpPr/>
          <p:nvPr/>
        </p:nvSpPr>
        <p:spPr>
          <a:xfrm>
            <a:off x="658368" y="1773936"/>
            <a:ext cx="108813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OC Number 01"/>
          <p:cNvSpPr txBox="1"/>
          <p:nvPr/>
        </p:nvSpPr>
        <p:spPr>
          <a:xfrm>
            <a:off x="877824" y="1924812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900" b="1">
                <a:solidFill>
                  <a:srgbClr val="1F87E5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13" name="TOC Title 01"/>
          <p:cNvSpPr txBox="1"/>
          <p:nvPr/>
        </p:nvSpPr>
        <p:spPr>
          <a:xfrm>
            <a:off x="1661160" y="1892808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50" b="1">
                <a:solidFill>
                  <a:srgbClr val="071934"/>
                </a:solidFill>
                <a:latin typeface="Malgun Gothic"/>
                <a:ea typeface="Malgun Gothic"/>
              </a:rPr>
              <a:t>핵심 요약</a:t>
            </a:r>
          </a:p>
        </p:txBody>
      </p:sp>
      <p:sp>
        <p:nvSpPr>
          <p:cNvPr id="14" name="TOC Body 01"/>
          <p:cNvSpPr txBox="1"/>
          <p:nvPr/>
        </p:nvSpPr>
        <p:spPr>
          <a:xfrm>
            <a:off x="1661160" y="2157984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80">
                <a:solidFill>
                  <a:srgbClr val="526074"/>
                </a:solidFill>
                <a:latin typeface="Malgun Gothic"/>
                <a:ea typeface="Malgun Gothic"/>
              </a:rPr>
              <a:t>배틀서버 전환을 위한 기반 구조 개선 방향</a:t>
            </a:r>
          </a:p>
        </p:txBody>
      </p:sp>
      <p:sp>
        <p:nvSpPr>
          <p:cNvPr id="21" name="TOC Row 02"/>
          <p:cNvSpPr/>
          <p:nvPr/>
        </p:nvSpPr>
        <p:spPr>
          <a:xfrm>
            <a:off x="658368" y="2606040"/>
            <a:ext cx="108813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OC Number 02"/>
          <p:cNvSpPr txBox="1"/>
          <p:nvPr/>
        </p:nvSpPr>
        <p:spPr>
          <a:xfrm>
            <a:off x="877824" y="275691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900" b="1">
                <a:solidFill>
                  <a:srgbClr val="1F87E5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23" name="TOC Title 02"/>
          <p:cNvSpPr txBox="1"/>
          <p:nvPr/>
        </p:nvSpPr>
        <p:spPr>
          <a:xfrm>
            <a:off x="1661160" y="272491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50" b="1">
                <a:solidFill>
                  <a:srgbClr val="071934"/>
                </a:solidFill>
                <a:latin typeface="Malgun Gothic"/>
                <a:ea typeface="Malgun Gothic"/>
              </a:rPr>
              <a:t>구조 개선 필요성</a:t>
            </a:r>
          </a:p>
        </p:txBody>
      </p:sp>
      <p:sp>
        <p:nvSpPr>
          <p:cNvPr id="24" name="TOC Body 02"/>
          <p:cNvSpPr txBox="1"/>
          <p:nvPr/>
        </p:nvSpPr>
        <p:spPr>
          <a:xfrm>
            <a:off x="1661160" y="2990088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80">
                <a:solidFill>
                  <a:srgbClr val="526074"/>
                </a:solidFill>
                <a:latin typeface="Malgun Gothic"/>
                <a:ea typeface="Malgun Gothic"/>
              </a:rPr>
              <a:t>클라이언트 기술부채를 서버로 그대로 이전하지 않기 위한 배경</a:t>
            </a:r>
          </a:p>
        </p:txBody>
      </p:sp>
      <p:sp>
        <p:nvSpPr>
          <p:cNvPr id="31" name="TOC Row 03"/>
          <p:cNvSpPr/>
          <p:nvPr/>
        </p:nvSpPr>
        <p:spPr>
          <a:xfrm>
            <a:off x="658368" y="3438144"/>
            <a:ext cx="108813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OC Number 03"/>
          <p:cNvSpPr txBox="1"/>
          <p:nvPr/>
        </p:nvSpPr>
        <p:spPr>
          <a:xfrm>
            <a:off x="877824" y="3589020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900" b="1">
                <a:solidFill>
                  <a:srgbClr val="1F87E5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33" name="TOC Title 03"/>
          <p:cNvSpPr txBox="1"/>
          <p:nvPr/>
        </p:nvSpPr>
        <p:spPr>
          <a:xfrm>
            <a:off x="1661160" y="355701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50" b="1">
                <a:solidFill>
                  <a:srgbClr val="071934"/>
                </a:solidFill>
                <a:latin typeface="Malgun Gothic"/>
                <a:ea typeface="Malgun Gothic"/>
              </a:rPr>
              <a:t>진행 작업 현황</a:t>
            </a:r>
          </a:p>
        </p:txBody>
      </p:sp>
      <p:sp>
        <p:nvSpPr>
          <p:cNvPr id="34" name="TOC Body 03"/>
          <p:cNvSpPr txBox="1"/>
          <p:nvPr/>
        </p:nvSpPr>
        <p:spPr>
          <a:xfrm>
            <a:off x="1661160" y="3822192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80">
                <a:solidFill>
                  <a:srgbClr val="526074"/>
                </a:solidFill>
                <a:latin typeface="Malgun Gothic"/>
                <a:ea typeface="Malgun Gothic"/>
              </a:rPr>
              <a:t>현재까지 진행한 서버 / 클라이언트 구조 개선 작업</a:t>
            </a:r>
          </a:p>
        </p:txBody>
      </p:sp>
      <p:sp>
        <p:nvSpPr>
          <p:cNvPr id="41" name="TOC Row 04"/>
          <p:cNvSpPr/>
          <p:nvPr/>
        </p:nvSpPr>
        <p:spPr>
          <a:xfrm>
            <a:off x="658368" y="4270248"/>
            <a:ext cx="108813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TOC Number 04"/>
          <p:cNvSpPr txBox="1"/>
          <p:nvPr/>
        </p:nvSpPr>
        <p:spPr>
          <a:xfrm>
            <a:off x="877824" y="4421124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900" b="1">
                <a:solidFill>
                  <a:srgbClr val="1F87E5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43" name="TOC Title 04"/>
          <p:cNvSpPr txBox="1"/>
          <p:nvPr/>
        </p:nvSpPr>
        <p:spPr>
          <a:xfrm>
            <a:off x="1661160" y="438912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50" b="1">
                <a:solidFill>
                  <a:srgbClr val="071934"/>
                </a:solidFill>
                <a:latin typeface="Malgun Gothic"/>
                <a:ea typeface="Malgun Gothic"/>
              </a:rPr>
              <a:t>작업별 상세 내용</a:t>
            </a:r>
          </a:p>
        </p:txBody>
      </p:sp>
      <p:sp>
        <p:nvSpPr>
          <p:cNvPr id="44" name="TOC Body 04"/>
          <p:cNvSpPr txBox="1"/>
          <p:nvPr/>
        </p:nvSpPr>
        <p:spPr>
          <a:xfrm>
            <a:off x="1661160" y="4654296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80">
                <a:solidFill>
                  <a:srgbClr val="526074"/>
                </a:solidFill>
                <a:latin typeface="Malgun Gothic"/>
                <a:ea typeface="Malgun Gothic"/>
              </a:rPr>
              <a:t>ThreadTimer, DBDispatcher, FSM / TaskScheduler, 캐릭터 구조 리팩토링</a:t>
            </a:r>
          </a:p>
        </p:txBody>
      </p:sp>
      <p:sp>
        <p:nvSpPr>
          <p:cNvPr id="51" name="TOC Row 05"/>
          <p:cNvSpPr/>
          <p:nvPr/>
        </p:nvSpPr>
        <p:spPr>
          <a:xfrm>
            <a:off x="658368" y="5102352"/>
            <a:ext cx="108813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1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TOC Number 05"/>
          <p:cNvSpPr txBox="1"/>
          <p:nvPr/>
        </p:nvSpPr>
        <p:spPr>
          <a:xfrm>
            <a:off x="877824" y="525322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900" b="1">
                <a:solidFill>
                  <a:srgbClr val="1F87E5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53" name="TOC Title 05"/>
          <p:cNvSpPr txBox="1"/>
          <p:nvPr/>
        </p:nvSpPr>
        <p:spPr>
          <a:xfrm>
            <a:off x="1661160" y="5221224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50" b="1">
                <a:solidFill>
                  <a:srgbClr val="071934"/>
                </a:solidFill>
                <a:latin typeface="Malgun Gothic"/>
                <a:ea typeface="Malgun Gothic"/>
              </a:rPr>
              <a:t>향후 진행 계획</a:t>
            </a:r>
          </a:p>
        </p:txBody>
      </p:sp>
      <p:sp>
        <p:nvSpPr>
          <p:cNvPr id="54" name="TOC Body 05"/>
          <p:cNvSpPr txBox="1"/>
          <p:nvPr/>
        </p:nvSpPr>
        <p:spPr>
          <a:xfrm>
            <a:off x="1661160" y="548640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80">
                <a:solidFill>
                  <a:srgbClr val="526074"/>
                </a:solidFill>
                <a:latin typeface="Malgun Gothic"/>
                <a:ea typeface="Malgun Gothic"/>
              </a:rPr>
              <a:t>전투, Bullet, Magic, Map 구조 개선 예정 작업</a:t>
            </a:r>
          </a:p>
        </p:txBody>
      </p:sp>
      <p:sp>
        <p:nvSpPr>
          <p:cNvPr id="99" name="Page Number"/>
          <p:cNvSpPr txBox="1"/>
          <p:nvPr/>
        </p:nvSpPr>
        <p:spPr>
          <a:xfrm>
            <a:off x="11292840" y="6492240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850">
                <a:solidFill>
                  <a:srgbClr val="6B7890"/>
                </a:solidFill>
                <a:latin typeface="Malgun Gothic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1906</Words>
  <Application>Microsoft Office PowerPoint</Application>
  <PresentationFormat>와이드스크린</PresentationFormat>
  <Paragraphs>390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배틀서버 작업 보고</dc:title>
  <dc:subject>배틀서버 작업 보고</dc:subject>
  <dc:creator>OpenAI</dc:creator>
  <cp:lastModifiedBy>정 진욱</cp:lastModifiedBy>
  <cp:revision>1</cp:revision>
  <dcterms:created xsi:type="dcterms:W3CDTF">2026-05-11T03:16:52Z</dcterms:created>
  <dcterms:modified xsi:type="dcterms:W3CDTF">2026-05-11T07:27:59Z</dcterms:modified>
</cp:coreProperties>
</file>